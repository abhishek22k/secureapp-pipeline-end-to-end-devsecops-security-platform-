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3C"/>
          </a:solidFill>
        </p:spPr>
      </p:sp>
      <p:sp>
        <p:nvSpPr>
          <p:cNvPr id="3" name="Shape 1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7264F"/>
          </a:solidFill>
        </p:spPr>
      </p:sp>
      <p:sp>
        <p:nvSpPr>
          <p:cNvPr id="4" name="Shap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C2C57"/>
          </a:solidFill>
        </p:spPr>
      </p:sp>
      <p:sp>
        <p:nvSpPr>
          <p:cNvPr id="5" name="Shape 3"/>
          <p:cNvSpPr/>
          <p:nvPr/>
        </p:nvSpPr>
        <p:spPr>
          <a:xfrm>
            <a:off x="822960" y="914400"/>
            <a:ext cx="640080" cy="64008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6" name="Image 0" descr="/home/claude/ppt/icons/shie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0424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SECUREAPP PIPELINE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E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DevSecOps Security Across Every Layer of the SDLC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12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8056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r>
              <a:rPr lang="en-US" sz="1400" dirty="0">
                <a:solidFill>
                  <a:srgbClr val="9AA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Security Layers      </a:t>
            </a:r>
            <a:r>
              <a:rPr lang="en-US" sz="3000" b="1" dirty="0">
                <a:solidFill>
                  <a:srgbClr val="E2A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r>
              <a:rPr lang="en-US" sz="1400" dirty="0">
                <a:solidFill>
                  <a:srgbClr val="9AA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Vulnerabilities Fixed      </a:t>
            </a:r>
            <a:r>
              <a:rPr lang="en-US" sz="3000" b="1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US" sz="1400" dirty="0">
                <a:solidFill>
                  <a:srgbClr val="9AA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Fully Automated Pipeline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Abhi  |  B.Tech CSE — Cybersecurity &amp; Digital Forensics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Is Usually Bolted On, Not Built In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teams write code first and think about security right before release — by then, fixes are expensive, rushed, and often skipped under deadline pressure.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651760"/>
            <a:ext cx="502920" cy="502920"/>
          </a:xfrm>
          <a:prstGeom prst="ellipse">
            <a:avLst/>
          </a:prstGeom>
          <a:solidFill>
            <a:srgbClr val="E2A63B"/>
          </a:solidFill>
        </p:spPr>
      </p:sp>
      <p:pic>
        <p:nvPicPr>
          <p:cNvPr id="7" name="Image 0" descr="/home/claude/ppt/icons/war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77977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69748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Traditional SDLC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383280"/>
            <a:ext cx="443484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testing happens after development is “done”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Vulnerabilities found in staging or production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Manual, inconsistent reviews — easy to skip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visibility into dependency or container risk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Attacks discovered only after real damage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233172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0F1B3C"/>
          </a:solidFill>
        </p:spPr>
      </p:sp>
      <p:sp>
        <p:nvSpPr>
          <p:cNvPr id="11" name="Shape 8"/>
          <p:cNvSpPr/>
          <p:nvPr/>
        </p:nvSpPr>
        <p:spPr>
          <a:xfrm>
            <a:off x="6492240" y="2651760"/>
            <a:ext cx="502920" cy="50292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12" name="Image 1" descr="/home/claude/ppt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77977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69748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SecureApp Pipeline (Shift-Left)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92240" y="3383280"/>
            <a:ext cx="443484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gates run at every stage — commit to deploy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Vulnerabilities caught before they ever ship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Automated, repeatable, cannot be skipped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visibility: code, dependencies, containers, cloud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AI-assisted monitoring flags attacks in real time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SecureApp Pipeline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Eight Layers, One Automated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commit passes through all eight gates before it can reach production.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3060" y="2221992"/>
            <a:ext cx="548640" cy="54864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7" name="Image 0" descr="/home/claude/ppt/icons/shie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235000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926080"/>
            <a:ext cx="2295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 Pre-Commit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31927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Bandit, Semgrep, detect-secrets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1965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02252" y="2221992"/>
            <a:ext cx="548640" cy="54864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12" name="Image 1" descr="/home/claude/ppt/icons/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23500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926080"/>
            <a:ext cx="2295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2. Dependencies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56432" y="331927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pip-audit, Safety, SBOM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98464" y="1965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81444" y="2221992"/>
            <a:ext cx="548640" cy="54864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17" name="Image 2" descr="/home/claude/ppt/icons/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3500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08192" y="2926080"/>
            <a:ext cx="2295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 CI/CD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35624" y="331927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Actions, gated stages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677656" y="196596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660636" y="2221992"/>
            <a:ext cx="548640" cy="548640"/>
          </a:xfrm>
          <a:prstGeom prst="ellipse">
            <a:avLst/>
          </a:prstGeom>
          <a:solidFill>
            <a:srgbClr val="0F1B3C"/>
          </a:solidFill>
        </p:spPr>
      </p:sp>
      <p:pic>
        <p:nvPicPr>
          <p:cNvPr id="22" name="Image 3" descr="/home/claude/ppt/icons/cu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652" y="23500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87384" y="2926080"/>
            <a:ext cx="2295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4. Container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814816" y="331927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Hardened Docker, Trivy, Hadolint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416052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623060" y="4416552"/>
            <a:ext cx="548640" cy="548640"/>
          </a:xfrm>
          <a:prstGeom prst="ellipse">
            <a:avLst/>
          </a:prstGeom>
          <a:solidFill>
            <a:srgbClr val="0F1B3C"/>
          </a:solidFill>
        </p:spPr>
      </p:sp>
      <p:pic>
        <p:nvPicPr>
          <p:cNvPr id="27" name="Image 4" descr="/home/claude/ppt/icons/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1076" y="45445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5120640"/>
            <a:ext cx="2295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 Infrastructure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77240" y="551383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Terraform AWS, Checkov, tfsec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19272" y="416052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302252" y="4416552"/>
            <a:ext cx="548640" cy="548640"/>
          </a:xfrm>
          <a:prstGeom prst="ellipse">
            <a:avLst/>
          </a:prstGeom>
          <a:solidFill>
            <a:srgbClr val="E2A63B"/>
          </a:solidFill>
        </p:spPr>
      </p:sp>
      <p:pic>
        <p:nvPicPr>
          <p:cNvPr id="32" name="Image 5" descr="/home/claude/ppt/icons/b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0268" y="454456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29000" y="5120640"/>
            <a:ext cx="2295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6. DAST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456432" y="551383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OWASP ZAP spider + active scan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998464" y="416052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981444" y="4416552"/>
            <a:ext cx="548640" cy="548640"/>
          </a:xfrm>
          <a:prstGeom prst="ellipse">
            <a:avLst/>
          </a:prstGeom>
          <a:solidFill>
            <a:srgbClr val="E2A63B"/>
          </a:solidFill>
        </p:spPr>
      </p:sp>
      <p:pic>
        <p:nvPicPr>
          <p:cNvPr id="37" name="Image 6" descr="/home/claude/ppt/icons/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460" y="4544568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108192" y="5120640"/>
            <a:ext cx="2295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7. Network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135624" y="551383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Nmap + Shodan exposure checks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677656" y="416052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660636" y="4416552"/>
            <a:ext cx="548640" cy="54864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42" name="Image 7" descr="/home/claude/ppt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8652" y="4544568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787384" y="5120640"/>
            <a:ext cx="229514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8. Monitoring + AI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8814816" y="551383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Prometheus, Grafana, Ollama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SecureApp Pipeline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0 — THE TARGET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Real Flask App, Deliberately Vulnerable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other layer needs something real to catch. The baseline app is a full-featured Flask application with 12 documented, working vulnerabilities.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76072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&amp; Registration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Blog (posts + comments)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Todo manager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panel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+ JWT auth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 persistence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525780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0F1B3C"/>
          </a:solidFill>
        </p:spPr>
      </p:sp>
      <p:sp>
        <p:nvSpPr>
          <p:cNvPr id="8" name="Text 6"/>
          <p:cNvSpPr/>
          <p:nvPr/>
        </p:nvSpPr>
        <p:spPr>
          <a:xfrm>
            <a:off x="914400" y="539496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2A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 </a:t>
            </a:r>
            <a:r>
              <a:rPr lang="en-US" sz="120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intentional vulnerabilities — SQLi, XSS, IDOR, weak crypto,</a:t>
            </a:r>
            <a:endParaRPr lang="en-US" sz="3400" dirty="0"/>
          </a:p>
          <a:p>
            <a:pPr marL="0" indent="0">
              <a:buNone/>
            </a:pPr>
            <a:r>
              <a:rPr lang="en-US" sz="120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broken access control, unsafe upload, and more.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720840" y="233172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9050">
            <a:solidFill>
              <a:srgbClr val="C6CCDC"/>
            </a:solidFill>
            <a:prstDash val="dash"/>
          </a:ln>
        </p:spPr>
      </p:sp>
      <p:pic>
        <p:nvPicPr>
          <p:cNvPr id="10" name="Image 0" descr="/home/claude/ppt/icons/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383590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0840" y="443026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95160" y="4704588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Blog / login page of the running vulnerable app in the browser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SecureApp Pipeline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10</a:t>
            </a:r>
            <a:endParaRPr lang="en-US" sz="10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475" y="2347595"/>
            <a:ext cx="4845685" cy="4046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LEVELS 1 –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Shift-Left: Stop Issues Before They're Committed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5" name="Image 0" descr="/home/claude/ppt/icons/shie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3677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9047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Pre-Commit Hooks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892808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Bandit + Semgrep (SAST) and detect-secrets scan every file before a commit is allowed — SQLi, hardcoded secrets, weak crypto, eval/exec all block locally.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9" name="Image 1" descr="/home/claude/ppt/icons/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60273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4564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Dependency Security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3858768"/>
            <a:ext cx="50292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pip-audit and Safety cross-check every package against live CVE databases; a CycloneDX SBOM is generated on every run and the build fails on HIGH/CRITICAL findings.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5440680"/>
            <a:ext cx="5532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8680" y="548640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a commit containing the app's known vulnerabilities is rejected automatically — proven, not assumed.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SecureApp Pipeline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Pipeline, Seven Gated Jobs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 chains every check together — a failure anywhere stops the build before it can reach production.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F1B3C"/>
          </a:solidFill>
        </p:spPr>
      </p:sp>
      <p:sp>
        <p:nvSpPr>
          <p:cNvPr id="6" name="Text 4"/>
          <p:cNvSpPr/>
          <p:nvPr/>
        </p:nvSpPr>
        <p:spPr>
          <a:xfrm>
            <a:off x="685800" y="214884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40280" y="21488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96312" y="21488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7264F"/>
          </a:solidFill>
        </p:spPr>
      </p:sp>
      <p:sp>
        <p:nvSpPr>
          <p:cNvPr id="9" name="Text 7"/>
          <p:cNvSpPr/>
          <p:nvPr/>
        </p:nvSpPr>
        <p:spPr>
          <a:xfrm>
            <a:off x="2542032" y="214884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SAST /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Secrets /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96512" y="21488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52544" y="21488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2B8A6"/>
          </a:solidFill>
        </p:spPr>
      </p:sp>
      <p:sp>
        <p:nvSpPr>
          <p:cNvPr id="12" name="Text 10"/>
          <p:cNvSpPr/>
          <p:nvPr/>
        </p:nvSpPr>
        <p:spPr>
          <a:xfrm>
            <a:off x="4398264" y="214884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&amp;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 Image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52744" y="21488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8776" y="21488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7264F"/>
          </a:solidFill>
        </p:spPr>
      </p:sp>
      <p:sp>
        <p:nvSpPr>
          <p:cNvPr id="15" name="Text 13"/>
          <p:cNvSpPr/>
          <p:nvPr/>
        </p:nvSpPr>
        <p:spPr>
          <a:xfrm>
            <a:off x="6254496" y="214884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DAST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(ZAP)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08976" y="21488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65008" y="21488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2B8A6"/>
          </a:solidFill>
        </p:spPr>
      </p:sp>
      <p:sp>
        <p:nvSpPr>
          <p:cNvPr id="18" name="Text 16"/>
          <p:cNvSpPr/>
          <p:nvPr/>
        </p:nvSpPr>
        <p:spPr>
          <a:xfrm>
            <a:off x="8110728" y="214884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65208" y="2148840"/>
            <a:ext cx="256032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21240" y="214884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7264F"/>
          </a:solidFill>
        </p:spPr>
      </p:sp>
      <p:sp>
        <p:nvSpPr>
          <p:cNvPr id="21" name="Text 19"/>
          <p:cNvSpPr/>
          <p:nvPr/>
        </p:nvSpPr>
        <p:spPr>
          <a:xfrm>
            <a:off x="9966960" y="2148840"/>
            <a:ext cx="1508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gates after Test: Bandit + Semgrep, detect-secrets, and pip-audit + SBOM all run concurrently — Build only starts once all three pass.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069080"/>
            <a:ext cx="108813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9050">
            <a:solidFill>
              <a:srgbClr val="C6CCDC"/>
            </a:solidFill>
            <a:prstDash val="dash"/>
          </a:ln>
        </p:spPr>
      </p:sp>
      <p:pic>
        <p:nvPicPr>
          <p:cNvPr id="24" name="Image 0" descr="/home/claude/ppt/icons/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4704588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0080" y="5298948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4400" y="557326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 run summary — all 7 jobs, showing pass/fail status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SecureApp Pipeline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10</a:t>
            </a:r>
            <a:endParaRPr lang="en-US" sz="10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" y="4004945"/>
            <a:ext cx="11550650" cy="23552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LEVELS 4 –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Hardened Container, Hardened Cloud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5" name="Image 0" descr="/home/claude/ppt/icons/cu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3677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9047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Container Security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965960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Multi-stage build — build tools never ship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as non-root (UID 10001), never root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 root filesystem + dropped capabilities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Trivy, Hadolint, Docker Bench all gate the build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0F1B3C"/>
          </a:solidFill>
        </p:spPr>
      </p:sp>
      <p:pic>
        <p:nvPicPr>
          <p:cNvPr id="9" name="Image 1" descr="/home/claude/ppt/icons/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10565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9593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Infrastructure Security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25880" y="4434840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Terraform: VPC, EC2, IAM, S3, CloudWatch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SSH restricted by policy — 0.0.0.0/0 is rejected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 fully blocked from public access + KMS-encrypted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Checkov + tfsec gate every plan before apply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37960" y="1508760"/>
            <a:ext cx="502920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9050">
            <a:solidFill>
              <a:srgbClr val="C6CCDC"/>
            </a:solidFill>
            <a:prstDash val="dash"/>
          </a:ln>
        </p:spPr>
      </p:sp>
      <p:pic>
        <p:nvPicPr>
          <p:cNvPr id="13" name="Image 2" descr="/home/claude/ppt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34244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401878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812280" y="429310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compose ps output / Terraform apply summary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SecureApp Pipeline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10</a:t>
            </a:r>
            <a:endParaRPr lang="en-US" sz="10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710" y="1484630"/>
            <a:ext cx="6381750" cy="48247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8 — THE FINAL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Monitoring + AI: From Logs to Incident Reports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5" name="Image 0" descr="/home/claude/ppt/icons/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3677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9047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Prometheus + Grafana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196596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metrics: request rate, latency, login failures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7-panel dashboard auto-provisioned on startup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rules fire on brute-force-rate and error-rate spikes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0F1B3C"/>
          </a:solidFill>
        </p:spPr>
      </p:sp>
      <p:pic>
        <p:nvPicPr>
          <p:cNvPr id="9" name="Image 1" descr="/home/claude/ppt/icons/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383133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6850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Incident Analysis (Ollama)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416052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Deterministic engine detects brute force by IP + user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narrates findings in plain English — never recomputes them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5B64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Auto-generates remediation suggestions for each incident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537960" y="1508760"/>
            <a:ext cx="502920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9050">
            <a:solidFill>
              <a:srgbClr val="C6CCDC"/>
            </a:solidFill>
            <a:prstDash val="dash"/>
          </a:ln>
        </p:spPr>
      </p:sp>
      <p:pic>
        <p:nvPicPr>
          <p:cNvPr id="13" name="Image 2" descr="/home/claude/ppt/icons/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342442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4018788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SCREENSHOT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812280" y="429310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Grafana dashboard / AI-generated incident report (JSON or /docs UI)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SecureApp Pipeline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10</a:t>
            </a:r>
            <a:endParaRPr lang="en-US" sz="10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710" y="1412875"/>
            <a:ext cx="60833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7264F"/>
          </a:solidFill>
        </p:spPr>
      </p:sp>
      <p:sp>
        <p:nvSpPr>
          <p:cNvPr id="3" name="Text 1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 &amp; 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E2A63B"/>
          </a:solidFill>
        </p:spPr>
      </p:sp>
      <p:pic>
        <p:nvPicPr>
          <p:cNvPr id="6" name="Image 0" descr="/home/claude/ppt/icons/rock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728216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8191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25880" y="205740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Kubernetes orchestration with OPA/Gatekeeper policies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WAF + rate limiting in front of the application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SOAR-style automated response to AI-flagged incidents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Multi-cloud Terraform modules (Azure / GCP)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DE3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app + expanded Zero Trust access model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12B8A6"/>
          </a:solidFill>
        </p:spPr>
      </p:sp>
      <p:pic>
        <p:nvPicPr>
          <p:cNvPr id="10" name="Image 1" descr="/home/claude/ppt/icons/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483717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69087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25880" y="516636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7CE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SecureApp Pipeline demonstrates that security can be embedded at every stage of the SDLC — from the first commit to a live, AI-monitored deployment — without slowing development down. It's a complete, working reference for DevSecOps, Cloud Security, and AppSec practice.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321040" y="17373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8321040" y="23957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Layers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321040" y="28803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8321040" y="35387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Vulnerabilities Documented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321040" y="40233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8321040" y="46817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CI/CD Gated Jobs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321040" y="51663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2B8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8321040" y="582472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Command to Run Everything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0080" y="6355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1183112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4745</Words>
  <Application>WPS Presentation</Application>
  <PresentationFormat/>
  <Paragraphs>249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khang</cp:lastModifiedBy>
  <cp:revision>2</cp:revision>
  <dcterms:created xsi:type="dcterms:W3CDTF">2026-08-07T07:54:01Z</dcterms:created>
  <dcterms:modified xsi:type="dcterms:W3CDTF">2026-08-07T07:54:53Z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6D6C15D8E3F54BA5851D6B0C7EEFB0E0_13</vt:lpwstr>
  </property>
</Properties>
</file>